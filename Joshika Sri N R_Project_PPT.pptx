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4" r:id="rId5"/>
    <p:sldId id="285" r:id="rId6"/>
    <p:sldId id="281" r:id="rId7"/>
    <p:sldId id="279" r:id="rId8"/>
    <p:sldId id="262" r:id="rId9"/>
    <p:sldId id="264" r:id="rId10"/>
    <p:sldId id="286" r:id="rId11"/>
    <p:sldId id="277" r:id="rId12"/>
    <p:sldId id="280"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joshika-sri/Joshika-Sri-N-R_IBM-SkillsBuild_AICTE-Repository"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85098091"/>
              </p:ext>
            </p:extLst>
          </p:nvPr>
        </p:nvGraphicFramePr>
        <p:xfrm>
          <a:off x="1299257" y="2600314"/>
          <a:ext cx="9394989" cy="2531243"/>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136758">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394485">
                <a:tc>
                  <a:txBody>
                    <a:bodyPr/>
                    <a:lstStyle/>
                    <a:p>
                      <a:pPr marL="0" marR="0" lvl="0" indent="0" algn="l" rtl="0">
                        <a:spcBef>
                          <a:spcPts val="0"/>
                        </a:spcBef>
                        <a:spcAft>
                          <a:spcPts val="0"/>
                        </a:spcAft>
                        <a:buNone/>
                      </a:pPr>
                      <a:r>
                        <a:rPr lang="en-IN" sz="1800" dirty="0"/>
                        <a:t>Joshika Sri N R</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24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400" dirty="0"/>
                        <a:t>joshikasri@student.tce.edu</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800" dirty="0"/>
                        <a:t>9025307900</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 / Academics</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b="1" dirty="0">
                <a:highlight>
                  <a:srgbClr val="FFFF00"/>
                </a:highlight>
              </a:rPr>
              <a:t>AI-Powered LaTeX Diagram Generator for Academic Research</a:t>
            </a:r>
            <a:endParaRPr lang="en-IN" sz="2400" b="1" dirty="0">
              <a:highlight>
                <a:srgbClr val="FFFF00"/>
              </a:highlight>
            </a:endParaRPr>
          </a:p>
        </p:txBody>
      </p:sp>
      <p:pic>
        <p:nvPicPr>
          <p:cNvPr id="3" name="Picture 2">
            <a:extLst>
              <a:ext uri="{FF2B5EF4-FFF2-40B4-BE49-F238E27FC236}">
                <a16:creationId xmlns:a16="http://schemas.microsoft.com/office/drawing/2014/main" id="{DDC966BE-44E3-AEA1-425C-71F5654A7DCA}"/>
              </a:ext>
            </a:extLst>
          </p:cNvPr>
          <p:cNvPicPr>
            <a:picLocks noChangeAspect="1"/>
          </p:cNvPicPr>
          <p:nvPr/>
        </p:nvPicPr>
        <p:blipFill>
          <a:blip r:embed="rId3"/>
          <a:stretch>
            <a:fillRect/>
          </a:stretch>
        </p:blipFill>
        <p:spPr>
          <a:xfrm>
            <a:off x="4150227" y="3792354"/>
            <a:ext cx="940286" cy="127485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a:t>
            </a:r>
            <a:r>
              <a:rPr lang="en-IN" dirty="0"/>
              <a:t>AI-Powered LaTeX Diagram Generator for Academic Research</a:t>
            </a:r>
            <a:endParaRPr lang="en-US" dirty="0"/>
          </a:p>
          <a:p>
            <a:pPr fontAlgn="base"/>
            <a:endParaRPr lang="en-US" b="1" dirty="0"/>
          </a:p>
          <a:p>
            <a:pPr fontAlgn="base"/>
            <a:r>
              <a:rPr lang="en-US" b="1" dirty="0"/>
              <a:t>The Challenge</a:t>
            </a:r>
            <a:r>
              <a:rPr lang="en-US" dirty="0"/>
              <a:t> </a:t>
            </a:r>
          </a:p>
          <a:p>
            <a:pPr fontAlgn="base"/>
            <a:r>
              <a:rPr lang="en-IN" dirty="0"/>
              <a:t>Researchers and students often need professional diagrams for research papers, theses, dissertations, and technical reports. Creating </a:t>
            </a:r>
            <a:r>
              <a:rPr lang="en-IN" dirty="0" err="1"/>
              <a:t>TikZ</a:t>
            </a:r>
            <a:r>
              <a:rPr lang="en-IN" dirty="0"/>
              <a:t> diagrams manually requires extensive LaTeX knowledge, consumes significant time, and is prone to syntax errors.</a:t>
            </a:r>
            <a:endParaRPr lang="en-US" dirty="0"/>
          </a:p>
          <a:p>
            <a:r>
              <a:rPr lang="en-IN" dirty="0"/>
              <a:t>Many users struggle to:</a:t>
            </a:r>
          </a:p>
          <a:p>
            <a:r>
              <a:rPr lang="en-IN" dirty="0"/>
              <a:t>• Learn </a:t>
            </a:r>
            <a:r>
              <a:rPr lang="en-IN" dirty="0" err="1"/>
              <a:t>TikZ</a:t>
            </a:r>
            <a:r>
              <a:rPr lang="en-IN" dirty="0"/>
              <a:t> syntax</a:t>
            </a:r>
          </a:p>
          <a:p>
            <a:r>
              <a:rPr lang="en-IN" dirty="0"/>
              <a:t>• Create publication-quality diagrams</a:t>
            </a:r>
          </a:p>
          <a:p>
            <a:r>
              <a:rPr lang="en-IN" dirty="0"/>
              <a:t>• Modify complex diagrams</a:t>
            </a:r>
          </a:p>
          <a:p>
            <a:r>
              <a:rPr lang="en-IN" dirty="0"/>
              <a:t>• Follow IEEE and academic formatting standards</a:t>
            </a:r>
          </a:p>
          <a:p>
            <a:r>
              <a:rPr lang="en-IN" dirty="0"/>
              <a:t>• Generate consistent documentation-ready figures</a:t>
            </a:r>
          </a:p>
          <a:p>
            <a:pPr fontAlgn="base"/>
            <a:endParaRPr lang="en-US" dirty="0"/>
          </a:p>
          <a:p>
            <a:pPr fontAlgn="base"/>
            <a:r>
              <a:rPr lang="en-US" b="1" dirty="0"/>
              <a:t>The Objective</a:t>
            </a:r>
            <a:r>
              <a:rPr lang="en-US" dirty="0"/>
              <a:t> </a:t>
            </a:r>
          </a:p>
          <a:p>
            <a:r>
              <a:rPr lang="en-IN" dirty="0"/>
              <a:t>Develop an AI-powered agent that automatically converts natural language descriptions into publication-ready </a:t>
            </a:r>
            <a:r>
              <a:rPr lang="en-IN" dirty="0" err="1"/>
              <a:t>TikZ</a:t>
            </a:r>
            <a:r>
              <a:rPr lang="en-IN" dirty="0"/>
              <a:t> diagrams.</a:t>
            </a:r>
          </a:p>
          <a:p>
            <a:r>
              <a:rPr lang="en-IN" dirty="0"/>
              <a:t>The solution should:</a:t>
            </a:r>
          </a:p>
          <a:p>
            <a:r>
              <a:rPr lang="en-IN" dirty="0"/>
              <a:t>• Convert plain English descriptions to </a:t>
            </a:r>
            <a:r>
              <a:rPr lang="en-IN" dirty="0" err="1"/>
              <a:t>TikZ</a:t>
            </a:r>
            <a:r>
              <a:rPr lang="en-IN" dirty="0"/>
              <a:t> code</a:t>
            </a:r>
          </a:p>
          <a:p>
            <a:r>
              <a:rPr lang="en-IN" dirty="0"/>
              <a:t>• Generate professional academic diagrams</a:t>
            </a:r>
          </a:p>
          <a:p>
            <a:r>
              <a:rPr lang="en-IN" dirty="0"/>
              <a:t>• Support iterative refinement</a:t>
            </a:r>
          </a:p>
          <a:p>
            <a:r>
              <a:rPr lang="en-IN" dirty="0"/>
              <a:t>• Produce </a:t>
            </a:r>
            <a:r>
              <a:rPr lang="en-IN" dirty="0" err="1"/>
              <a:t>compilable</a:t>
            </a:r>
            <a:r>
              <a:rPr lang="en-IN" dirty="0"/>
              <a:t> LaTeX output</a:t>
            </a:r>
          </a:p>
          <a:p>
            <a:r>
              <a:rPr lang="en-IN" dirty="0"/>
              <a:t>• Generate figure captions automatically</a:t>
            </a:r>
          </a:p>
          <a:p>
            <a:r>
              <a:rPr lang="en-IN" dirty="0"/>
              <a:t>• Improve research productivity</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4401205"/>
          </a:xfrm>
          <a:prstGeom prst="rect">
            <a:avLst/>
          </a:prstGeom>
          <a:noFill/>
        </p:spPr>
        <p:txBody>
          <a:bodyPr wrap="square" rtlCol="0">
            <a:spAutoFit/>
          </a:bodyPr>
          <a:lstStyle/>
          <a:p>
            <a:pPr fontAlgn="base"/>
            <a:endParaRPr lang="en-US" sz="2400" b="1" dirty="0"/>
          </a:p>
          <a:p>
            <a:pPr fontAlgn="base"/>
            <a:r>
              <a:rPr lang="en-IN" sz="2400" b="1" dirty="0"/>
              <a:t>Tech Stack (Mandatory)</a:t>
            </a:r>
            <a:r>
              <a:rPr lang="en-IN" sz="2400" dirty="0"/>
              <a:t> </a:t>
            </a:r>
          </a:p>
          <a:p>
            <a:pPr fontAlgn="base"/>
            <a:r>
              <a:rPr lang="en-IN" sz="2400" dirty="0"/>
              <a:t>Use </a:t>
            </a:r>
            <a:r>
              <a:rPr lang="en-IN" sz="2400" b="1" dirty="0"/>
              <a:t>any one</a:t>
            </a:r>
            <a:r>
              <a:rPr lang="en-IN" sz="2400" dirty="0"/>
              <a:t> of the following approaches: </a:t>
            </a:r>
          </a:p>
          <a:p>
            <a:pPr marL="285750" indent="-285750" fontAlgn="base">
              <a:buFont typeface="Arial" panose="020B0604020202020204" pitchFamily="34" charset="0"/>
              <a:buChar char="•"/>
            </a:pPr>
            <a:r>
              <a:rPr lang="en-IN" sz="2400" dirty="0"/>
              <a:t>IBM </a:t>
            </a:r>
            <a:r>
              <a:rPr lang="en-IN" sz="2400" dirty="0" err="1"/>
              <a:t>watsonx</a:t>
            </a:r>
            <a:r>
              <a:rPr lang="en-IN" sz="2400" dirty="0"/>
              <a:t> Orchestrate + IBM watsonx.ai + Granite Models </a:t>
            </a:r>
          </a:p>
          <a:p>
            <a:pPr marL="285750" indent="-285750" fontAlgn="base">
              <a:buFont typeface="Arial" panose="020B0604020202020204" pitchFamily="34" charset="0"/>
              <a:buChar char="•"/>
            </a:pPr>
            <a:endParaRPr lang="en-IN" sz="4000" dirty="0"/>
          </a:p>
          <a:p>
            <a:pPr fontAlgn="base"/>
            <a:r>
              <a:rPr lang="en-IN" sz="2400" dirty="0"/>
              <a:t>I used </a:t>
            </a:r>
            <a:r>
              <a:rPr lang="en-IN" sz="2400" dirty="0">
                <a:highlight>
                  <a:srgbClr val="FFFF00"/>
                </a:highlight>
              </a:rPr>
              <a:t>IBM </a:t>
            </a:r>
            <a:r>
              <a:rPr lang="en-IN" sz="2400" dirty="0" err="1">
                <a:highlight>
                  <a:srgbClr val="FFFF00"/>
                </a:highlight>
              </a:rPr>
              <a:t>watsonx</a:t>
            </a:r>
            <a:r>
              <a:rPr lang="en-IN" sz="2400" dirty="0">
                <a:highlight>
                  <a:srgbClr val="FFFF00"/>
                </a:highlight>
              </a:rPr>
              <a:t> Orchestrate  + IBM watsonx.ai + Granite Models </a:t>
            </a:r>
          </a:p>
          <a:p>
            <a:pPr fontAlgn="base"/>
            <a:endParaRPr lang="en-IN" sz="2400" dirty="0"/>
          </a:p>
          <a:p>
            <a:pPr marL="285750" indent="-285750" fontAlgn="base">
              <a:buFont typeface="Arial" panose="020B0604020202020204" pitchFamily="34" charset="0"/>
              <a:buChar char="•"/>
            </a:pPr>
            <a:endParaRPr lang="en-IN" sz="2400" dirty="0"/>
          </a:p>
          <a:p>
            <a:pPr fontAlgn="base"/>
            <a:endParaRPr lang="en-IN" sz="2400" dirty="0"/>
          </a:p>
          <a:p>
            <a:pPr fontAlgn="base"/>
            <a:endParaRPr lang="en-US" sz="2400" dirty="0"/>
          </a:p>
          <a:p>
            <a:endParaRPr lang="en-IN" sz="2400"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sz="1600" b="1" dirty="0"/>
          </a:p>
          <a:p>
            <a:r>
              <a:rPr lang="en-US" sz="1600" b="1" dirty="0"/>
              <a:t>Proposed Solution: </a:t>
            </a:r>
            <a:r>
              <a:rPr lang="en-IN" sz="1600" dirty="0"/>
              <a:t>AI-Powered LaTeX Diagram Generator Agent</a:t>
            </a:r>
            <a:endParaRPr lang="en-US" sz="1600" b="1" dirty="0"/>
          </a:p>
          <a:p>
            <a:r>
              <a:rPr lang="en-IN" sz="1600" dirty="0"/>
              <a:t>The proposed solution is an intelligent AI agent capable of generating professional </a:t>
            </a:r>
            <a:r>
              <a:rPr lang="en-IN" sz="1600" dirty="0" err="1"/>
              <a:t>TikZ</a:t>
            </a:r>
            <a:r>
              <a:rPr lang="en-IN" sz="1600" dirty="0"/>
              <a:t> diagrams from natural language descriptions. The system enables researchers, students, and academicians to generate publication-ready </a:t>
            </a:r>
            <a:r>
              <a:rPr lang="en-IN" sz="1600" dirty="0" err="1"/>
              <a:t>TikZ</a:t>
            </a:r>
            <a:r>
              <a:rPr lang="en-IN" sz="1600" dirty="0"/>
              <a:t> diagrams directly from natural language descriptions, eliminating the need for manual </a:t>
            </a:r>
            <a:r>
              <a:rPr lang="en-IN" sz="1600" dirty="0" err="1"/>
              <a:t>TikZ</a:t>
            </a:r>
            <a:r>
              <a:rPr lang="en-IN" sz="1600" dirty="0"/>
              <a:t> programming.</a:t>
            </a:r>
          </a:p>
          <a:p>
            <a:endParaRPr lang="en-IN" sz="1600" dirty="0"/>
          </a:p>
          <a:p>
            <a:r>
              <a:rPr lang="en-IN" sz="1600" dirty="0"/>
              <a:t>The workflow begins when a user describes a diagram in plain English, such as a research workflow, system architecture, UML diagram, neural network architecture, flowchart, or decision tree. The IBM Granite model </a:t>
            </a:r>
            <a:r>
              <a:rPr lang="en-IN" sz="1600" dirty="0" err="1"/>
              <a:t>analyzes</a:t>
            </a:r>
            <a:r>
              <a:rPr lang="en-IN" sz="1600" dirty="0"/>
              <a:t> the request, identifies key components and their relationships, and constructs an internal diagram representation.</a:t>
            </a:r>
          </a:p>
          <a:p>
            <a:endParaRPr lang="en-IN" sz="1600" dirty="0"/>
          </a:p>
          <a:p>
            <a:r>
              <a:rPr lang="en-IN" sz="1600" dirty="0"/>
              <a:t>The Agentic AI engine then performs diagram validation by checking for missing nodes, disconnected relationships, ambiguous structures, inconsistent naming conventions, and layout issues. Based on this analysis, the system generates optimized </a:t>
            </a:r>
            <a:r>
              <a:rPr lang="en-IN" sz="1600" dirty="0" err="1"/>
              <a:t>TikZ</a:t>
            </a:r>
            <a:r>
              <a:rPr lang="en-IN" sz="1600" dirty="0"/>
              <a:t> code following academic publication standards.</a:t>
            </a:r>
          </a:p>
          <a:p>
            <a:r>
              <a:rPr lang="en-IN" sz="1600" dirty="0"/>
              <a:t>Beyond code generation, the solution automatically creates:</a:t>
            </a:r>
            <a:br>
              <a:rPr lang="en-IN" sz="1600" dirty="0"/>
            </a:br>
            <a:r>
              <a:rPr lang="en-IN" sz="1600" dirty="0"/>
              <a:t>• Figure captions suitable for research papers</a:t>
            </a:r>
            <a:br>
              <a:rPr lang="en-IN" sz="1600" dirty="0"/>
            </a:br>
            <a:r>
              <a:rPr lang="en-IN" sz="1600" dirty="0"/>
              <a:t>• LaTeX figure environments ready for direct insertion</a:t>
            </a:r>
            <a:br>
              <a:rPr lang="en-IN" sz="1600" dirty="0"/>
            </a:br>
            <a:r>
              <a:rPr lang="en-IN" sz="1600" dirty="0"/>
              <a:t>• Accessibility descriptions for documentation</a:t>
            </a:r>
            <a:br>
              <a:rPr lang="en-IN" sz="1600" dirty="0"/>
            </a:br>
            <a:r>
              <a:rPr lang="en-IN" sz="1600" dirty="0"/>
              <a:t>• Component-wise explanations of the generated diagram</a:t>
            </a:r>
            <a:br>
              <a:rPr lang="en-IN" sz="1600" dirty="0"/>
            </a:br>
            <a:r>
              <a:rPr lang="en-IN" sz="1600" dirty="0"/>
              <a:t>• Suggestions for improving clarity and readability</a:t>
            </a:r>
          </a:p>
          <a:p>
            <a:endParaRPr lang="en-IN"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6498210"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2400" dirty="0">
                <a:sym typeface="Times New Roman"/>
              </a:rPr>
              <a:t>I</a:t>
            </a:r>
            <a:r>
              <a:rPr lang="en-US" sz="2400" b="1" dirty="0">
                <a:sym typeface="Times New Roman"/>
              </a:rPr>
              <a:t>BM </a:t>
            </a:r>
            <a:r>
              <a:rPr lang="en-IN" sz="2400" b="1" dirty="0"/>
              <a:t>Watsonx Orchestrate</a:t>
            </a:r>
            <a:r>
              <a:rPr lang="en-US" sz="24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909310"/>
          </a:xfrm>
          <a:prstGeom prst="rect">
            <a:avLst/>
          </a:prstGeom>
          <a:noFill/>
        </p:spPr>
        <p:txBody>
          <a:bodyPr wrap="square" rtlCol="0">
            <a:spAutoFit/>
          </a:bodyPr>
          <a:lstStyle/>
          <a:p>
            <a:endParaRPr lang="en-US" sz="1800" dirty="0"/>
          </a:p>
          <a:p>
            <a:r>
              <a:rPr lang="en-US" sz="1800" b="1" dirty="0"/>
              <a:t>1) Chat Input </a:t>
            </a:r>
            <a:r>
              <a:rPr lang="en-US" sz="1800" dirty="0"/>
              <a:t>–</a:t>
            </a:r>
            <a:r>
              <a:rPr lang="en-IN" sz="1800" dirty="0"/>
              <a:t>Accepts natural language diagram descriptions.</a:t>
            </a:r>
          </a:p>
          <a:p>
            <a:endParaRPr lang="en-IN" sz="1800" dirty="0"/>
          </a:p>
          <a:p>
            <a:r>
              <a:rPr lang="en-IN" sz="1800" b="1" dirty="0"/>
              <a:t>2) IBM Granite Model - </a:t>
            </a:r>
            <a:r>
              <a:rPr lang="en-IN" sz="1800" dirty="0"/>
              <a:t>Processes requests and generates diagram logic.</a:t>
            </a:r>
          </a:p>
          <a:p>
            <a:endParaRPr lang="en-US" sz="1800" dirty="0"/>
          </a:p>
          <a:p>
            <a:r>
              <a:rPr lang="en-US" sz="1800" b="1" dirty="0"/>
              <a:t>3) Name of IBM Granite model -</a:t>
            </a:r>
            <a:r>
              <a:rPr lang="en-IN" sz="1800" dirty="0"/>
              <a:t>GPT-OSS-120B / Granite Model available in </a:t>
            </a:r>
            <a:r>
              <a:rPr lang="en-IN" sz="1800" dirty="0" err="1"/>
              <a:t>watsonx</a:t>
            </a:r>
            <a:r>
              <a:rPr lang="en-IN" sz="1800" dirty="0"/>
              <a:t> Orchestrate</a:t>
            </a:r>
          </a:p>
          <a:p>
            <a:r>
              <a:rPr lang="en-US" sz="1800" dirty="0"/>
              <a:t>. </a:t>
            </a:r>
          </a:p>
          <a:p>
            <a:r>
              <a:rPr lang="en-US" sz="1800" b="1" dirty="0"/>
              <a:t>4) Chat output -</a:t>
            </a:r>
            <a:r>
              <a:rPr lang="en-IN" sz="1800" dirty="0"/>
              <a:t> Displays generated </a:t>
            </a:r>
            <a:r>
              <a:rPr lang="en-IN" sz="1800" dirty="0" err="1"/>
              <a:t>TikZ</a:t>
            </a:r>
            <a:r>
              <a:rPr lang="en-IN" sz="1800" dirty="0"/>
              <a:t> code and explanations.</a:t>
            </a:r>
          </a:p>
          <a:p>
            <a:endParaRPr lang="en-US" sz="1800" dirty="0"/>
          </a:p>
          <a:p>
            <a:r>
              <a:rPr lang="en-US" sz="1800" b="1" dirty="0"/>
              <a:t>5) </a:t>
            </a:r>
            <a:r>
              <a:rPr lang="en-IN" sz="1800" b="1" dirty="0"/>
              <a:t>Optional Knowledge Base - </a:t>
            </a:r>
            <a:r>
              <a:rPr lang="en-IN" sz="1800" dirty="0"/>
              <a:t>Stores </a:t>
            </a:r>
            <a:r>
              <a:rPr lang="en-IN" sz="1800" dirty="0" err="1"/>
              <a:t>TikZ</a:t>
            </a:r>
            <a:r>
              <a:rPr lang="en-IN" sz="1800" dirty="0"/>
              <a:t> documentation and academic formatting guidelines.</a:t>
            </a:r>
            <a:endParaRPr lang="en-US" sz="1800" dirty="0"/>
          </a:p>
          <a:p>
            <a:endParaRPr lang="en-US" sz="1800" b="1" dirty="0"/>
          </a:p>
          <a:p>
            <a:r>
              <a:rPr lang="en-US" sz="1800" b="1" dirty="0"/>
              <a:t>6) </a:t>
            </a:r>
            <a:r>
              <a:rPr lang="en-IN" sz="1800" b="1" dirty="0"/>
              <a:t>IBM Watsonx AI Agent - </a:t>
            </a:r>
            <a:r>
              <a:rPr lang="en-IN" sz="1800" dirty="0"/>
              <a:t>Controls generation, validation, and refinement.</a:t>
            </a:r>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r>
              <a:rPr lang="en-US" sz="1800" dirty="0"/>
              <a:t> </a:t>
            </a:r>
            <a:endParaRPr lang="en-IN" sz="18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Screenshots</a:t>
            </a:r>
          </a:p>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pic>
        <p:nvPicPr>
          <p:cNvPr id="12" name="Picture 11">
            <a:extLst>
              <a:ext uri="{FF2B5EF4-FFF2-40B4-BE49-F238E27FC236}">
                <a16:creationId xmlns:a16="http://schemas.microsoft.com/office/drawing/2014/main" id="{1A12B34B-DAEC-B171-826F-BEDB97446C3B}"/>
              </a:ext>
            </a:extLst>
          </p:cNvPr>
          <p:cNvPicPr>
            <a:picLocks noChangeAspect="1"/>
          </p:cNvPicPr>
          <p:nvPr/>
        </p:nvPicPr>
        <p:blipFill>
          <a:blip r:embed="rId3"/>
          <a:stretch>
            <a:fillRect/>
          </a:stretch>
        </p:blipFill>
        <p:spPr>
          <a:xfrm>
            <a:off x="6176567" y="771747"/>
            <a:ext cx="5802427" cy="3626517"/>
          </a:xfrm>
          <a:prstGeom prst="rect">
            <a:avLst/>
          </a:prstGeom>
        </p:spPr>
      </p:pic>
      <p:pic>
        <p:nvPicPr>
          <p:cNvPr id="18" name="Picture 17">
            <a:extLst>
              <a:ext uri="{FF2B5EF4-FFF2-40B4-BE49-F238E27FC236}">
                <a16:creationId xmlns:a16="http://schemas.microsoft.com/office/drawing/2014/main" id="{DDF0D87E-3208-F612-A4B7-D8531FEE1715}"/>
              </a:ext>
            </a:extLst>
          </p:cNvPr>
          <p:cNvPicPr>
            <a:picLocks noChangeAspect="1"/>
          </p:cNvPicPr>
          <p:nvPr/>
        </p:nvPicPr>
        <p:blipFill>
          <a:blip r:embed="rId4"/>
          <a:stretch>
            <a:fillRect/>
          </a:stretch>
        </p:blipFill>
        <p:spPr>
          <a:xfrm>
            <a:off x="324309" y="771747"/>
            <a:ext cx="5802427" cy="362651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8" name="Picture 7">
            <a:extLst>
              <a:ext uri="{FF2B5EF4-FFF2-40B4-BE49-F238E27FC236}">
                <a16:creationId xmlns:a16="http://schemas.microsoft.com/office/drawing/2014/main" id="{DA3FC5A6-03BE-2F6B-7483-0315FD1E35E9}"/>
              </a:ext>
            </a:extLst>
          </p:cNvPr>
          <p:cNvPicPr>
            <a:picLocks noChangeAspect="1"/>
          </p:cNvPicPr>
          <p:nvPr/>
        </p:nvPicPr>
        <p:blipFill>
          <a:blip r:embed="rId3"/>
          <a:srcRect b="11179"/>
          <a:stretch>
            <a:fillRect/>
          </a:stretch>
        </p:blipFill>
        <p:spPr>
          <a:xfrm>
            <a:off x="203200" y="771747"/>
            <a:ext cx="11239500" cy="60578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893647"/>
          </a:xfrm>
          <a:prstGeom prst="rect">
            <a:avLst/>
          </a:prstGeom>
          <a:noFill/>
        </p:spPr>
        <p:txBody>
          <a:bodyPr wrap="square" rtlCol="0">
            <a:spAutoFit/>
          </a:bodyPr>
          <a:lstStyle/>
          <a:p>
            <a:r>
              <a:rPr lang="en-IN" sz="2400" dirty="0"/>
              <a:t>Agentic AI enables autonomous decision-making during </a:t>
            </a:r>
            <a:r>
              <a:rPr lang="en-IN" sz="2400" b="1" dirty="0"/>
              <a:t>Latex</a:t>
            </a:r>
            <a:r>
              <a:rPr lang="en-IN" sz="2400" dirty="0"/>
              <a:t> </a:t>
            </a:r>
            <a:r>
              <a:rPr lang="en-IN" sz="2400" b="1" dirty="0"/>
              <a:t>diagram generation</a:t>
            </a:r>
            <a:r>
              <a:rPr lang="en-IN" sz="2400" dirty="0"/>
              <a:t>.</a:t>
            </a:r>
          </a:p>
          <a:p>
            <a:r>
              <a:rPr lang="en-IN" sz="2400" dirty="0"/>
              <a:t>The agent:</a:t>
            </a:r>
          </a:p>
          <a:p>
            <a:r>
              <a:rPr lang="en-IN" sz="2400" dirty="0"/>
              <a:t>• Understands user intent</a:t>
            </a:r>
          </a:p>
          <a:p>
            <a:r>
              <a:rPr lang="en-IN" sz="2400" dirty="0"/>
              <a:t>• Identifies diagram structures</a:t>
            </a:r>
          </a:p>
          <a:p>
            <a:r>
              <a:rPr lang="en-IN" sz="2400" dirty="0"/>
              <a:t>• Selects suitable layouts</a:t>
            </a:r>
          </a:p>
          <a:p>
            <a:r>
              <a:rPr lang="en-IN" sz="2400" dirty="0"/>
              <a:t>• Validates relationships</a:t>
            </a:r>
          </a:p>
          <a:p>
            <a:r>
              <a:rPr lang="en-IN" sz="2400" dirty="0"/>
              <a:t>• Generates complete </a:t>
            </a:r>
            <a:r>
              <a:rPr lang="en-IN" sz="2400" dirty="0" err="1"/>
              <a:t>TikZ</a:t>
            </a:r>
            <a:r>
              <a:rPr lang="en-IN" sz="2400" dirty="0"/>
              <a:t> code</a:t>
            </a:r>
          </a:p>
          <a:p>
            <a:r>
              <a:rPr lang="en-IN" sz="2400" dirty="0"/>
              <a:t>• Suggests improvements</a:t>
            </a:r>
          </a:p>
          <a:p>
            <a:r>
              <a:rPr lang="en-IN" sz="2400" dirty="0"/>
              <a:t>• Supports iterative refinement</a:t>
            </a:r>
          </a:p>
          <a:p>
            <a:endParaRPr lang="en-IN" sz="2400" dirty="0"/>
          </a:p>
          <a:p>
            <a:r>
              <a:rPr lang="en-IN" sz="2400" dirty="0"/>
              <a:t>This transforms the system from a simple code generator into an intelligent academic assistant.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pic>
        <p:nvPicPr>
          <p:cNvPr id="7" name="Picture 6">
            <a:extLst>
              <a:ext uri="{FF2B5EF4-FFF2-40B4-BE49-F238E27FC236}">
                <a16:creationId xmlns:a16="http://schemas.microsoft.com/office/drawing/2014/main" id="{3C2E0CDC-5F13-CB60-2850-FB48549EE29E}"/>
              </a:ext>
            </a:extLst>
          </p:cNvPr>
          <p:cNvPicPr>
            <a:picLocks noChangeAspect="1"/>
          </p:cNvPicPr>
          <p:nvPr/>
        </p:nvPicPr>
        <p:blipFill>
          <a:blip r:embed="rId3"/>
          <a:srcRect b="11125"/>
          <a:stretch>
            <a:fillRect/>
          </a:stretch>
        </p:blipFill>
        <p:spPr>
          <a:xfrm>
            <a:off x="1184341" y="946297"/>
            <a:ext cx="10025702" cy="5911703"/>
          </a:xfrm>
          <a:prstGeom prst="rect">
            <a:avLst/>
          </a:prstGeom>
        </p:spPr>
      </p:pic>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3200" dirty="0" err="1">
                <a:solidFill>
                  <a:srgbClr val="2B3541"/>
                </a:solidFill>
                <a:latin typeface="Times New Roman"/>
                <a:ea typeface="Times New Roman"/>
                <a:cs typeface="Times New Roman"/>
                <a:sym typeface="Times New Roman"/>
              </a:rPr>
              <a:t>Github</a:t>
            </a:r>
            <a:r>
              <a:rPr lang="en-US" sz="3200" dirty="0">
                <a:solidFill>
                  <a:srgbClr val="2B3541"/>
                </a:solidFill>
                <a:latin typeface="Times New Roman"/>
                <a:ea typeface="Times New Roman"/>
                <a:cs typeface="Times New Roman"/>
                <a:sym typeface="Times New Roman"/>
              </a:rPr>
              <a:t> URL – </a:t>
            </a:r>
            <a:r>
              <a:rPr lang="en-IN" sz="3600" dirty="0" err="1">
                <a:hlinkClick r:id="rId3"/>
              </a:rPr>
              <a:t>joshika-sri</a:t>
            </a:r>
            <a:r>
              <a:rPr lang="en-IN" sz="3600" dirty="0">
                <a:hlinkClick r:id="rId3"/>
              </a:rPr>
              <a:t>/Joshika-Sri-N-R_IBM-</a:t>
            </a:r>
            <a:r>
              <a:rPr lang="en-IN" sz="3600" dirty="0" err="1">
                <a:hlinkClick r:id="rId3"/>
              </a:rPr>
              <a:t>SkillsBuild_AICTE</a:t>
            </a:r>
            <a:r>
              <a:rPr lang="en-IN" sz="3600" dirty="0">
                <a:hlinkClick r:id="rId3"/>
              </a:rPr>
              <a:t>-Repository</a:t>
            </a:r>
            <a:endParaRPr lang="en-US" sz="320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br>
              <a:rPr lang="en-IN" sz="3200" b="1" dirty="0">
                <a:solidFill>
                  <a:srgbClr val="2B3541"/>
                </a:solidFill>
                <a:latin typeface="Times New Roman"/>
                <a:ea typeface="Times New Roman"/>
                <a:cs typeface="Times New Roman"/>
                <a:sym typeface="Times New Roman"/>
              </a:rPr>
            </a:br>
            <a:endParaRPr lang="en-IN" sz="3600" dirty="0"/>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endParaRPr lang="en-IN" sz="2000" dirty="0"/>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4" name="Rectangle 3">
            <a:extLst>
              <a:ext uri="{FF2B5EF4-FFF2-40B4-BE49-F238E27FC236}">
                <a16:creationId xmlns:a16="http://schemas.microsoft.com/office/drawing/2014/main" id="{045590E8-BE25-84E2-9FFD-8F25B435949E}"/>
              </a:ext>
            </a:extLst>
          </p:cNvPr>
          <p:cNvSpPr>
            <a:spLocks noChangeArrowheads="1"/>
          </p:cNvSpPr>
          <p:nvPr/>
        </p:nvSpPr>
        <p:spPr bwMode="auto">
          <a:xfrm>
            <a:off x="1082246" y="1221020"/>
            <a:ext cx="10409169"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1. Agentic AI-Powered Diagram Intelligence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Understands diagram intent, relationships, and structure before generating </a:t>
            </a:r>
            <a:r>
              <a:rPr kumimoji="0" lang="en-US" altLang="en-US" sz="2000" b="0" i="0" u="none" strike="noStrike" cap="none" normalizeH="0" baseline="0" dirty="0" err="1">
                <a:ln>
                  <a:noFill/>
                </a:ln>
                <a:solidFill>
                  <a:schemeClr val="tx1"/>
                </a:solidFill>
                <a:effectLst/>
                <a:latin typeface="Arial" panose="020B0604020202020204" pitchFamily="34" charset="0"/>
              </a:rPr>
              <a:t>TikZ</a:t>
            </a:r>
            <a:r>
              <a:rPr kumimoji="0" lang="en-US" altLang="en-US" sz="2000" b="0" i="0" u="none" strike="noStrike" cap="none" normalizeH="0" baseline="0" dirty="0">
                <a:ln>
                  <a:noFill/>
                </a:ln>
                <a:solidFill>
                  <a:schemeClr val="tx1"/>
                </a:solidFill>
                <a:effectLst/>
                <a:latin typeface="Arial" panose="020B0604020202020204" pitchFamily="34" charset="0"/>
              </a:rPr>
              <a:t> code.</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chemeClr val="tx1"/>
                </a:solidFill>
                <a:effectLst/>
                <a:latin typeface="Arial" panose="020B0604020202020204" pitchFamily="34" charset="0"/>
              </a:rPr>
              <a:t>Publication-Ready Academic Diagrams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Produces IEEE, ACM, Springer, and thesis-compliant diagram layouts.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0" i="0" u="none" strike="noStrike" cap="none" normalizeH="0" baseline="0" dirty="0">
                <a:ln>
                  <a:noFill/>
                </a:ln>
                <a:solidFill>
                  <a:schemeClr val="tx1"/>
                </a:solidFill>
                <a:effectLst/>
                <a:latin typeface="Arial" panose="020B0604020202020204" pitchFamily="34" charset="0"/>
              </a:rPr>
              <a:t>Automatic Diagram Validation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Detects missing nodes, disconnected components, and structural inconsistencies.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0" i="0" u="none" strike="noStrike" cap="none" normalizeH="0" baseline="0" dirty="0">
                <a:ln>
                  <a:noFill/>
                </a:ln>
                <a:solidFill>
                  <a:schemeClr val="tx1"/>
                </a:solidFill>
                <a:effectLst/>
                <a:latin typeface="Arial" panose="020B0604020202020204" pitchFamily="34" charset="0"/>
              </a:rPr>
              <a:t>Natural Language Refinement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Allows users to modify diagrams using simple English commands instead of </a:t>
            </a:r>
            <a:r>
              <a:rPr kumimoji="0" lang="en-US" altLang="en-US" sz="2000" b="0" i="0" u="none" strike="noStrike" cap="none" normalizeH="0" baseline="0" dirty="0" err="1">
                <a:ln>
                  <a:noFill/>
                </a:ln>
                <a:solidFill>
                  <a:schemeClr val="tx1"/>
                </a:solidFill>
                <a:effectLst/>
                <a:latin typeface="Arial" panose="020B0604020202020204" pitchFamily="34" charset="0"/>
              </a:rPr>
              <a:t>TikZ</a:t>
            </a:r>
            <a:r>
              <a:rPr kumimoji="0" lang="en-US" altLang="en-US" sz="2000" b="0" i="0" u="none" strike="noStrike" cap="none" normalizeH="0" baseline="0" dirty="0">
                <a:ln>
                  <a:noFill/>
                </a:ln>
                <a:solidFill>
                  <a:schemeClr val="tx1"/>
                </a:solidFill>
                <a:effectLst/>
                <a:latin typeface="Arial" panose="020B0604020202020204" pitchFamily="34" charset="0"/>
              </a:rPr>
              <a:t> syntax.</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000" b="0" i="0" u="none" strike="noStrike" cap="none" normalizeH="0" baseline="0" dirty="0">
                <a:ln>
                  <a:noFill/>
                </a:ln>
                <a:solidFill>
                  <a:schemeClr val="tx1"/>
                </a:solidFill>
                <a:effectLst/>
                <a:latin typeface="Arial" panose="020B0604020202020204" pitchFamily="34" charset="0"/>
              </a:rPr>
              <a:t>End-to-End Research Documentation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Automatically generates </a:t>
            </a:r>
            <a:r>
              <a:rPr kumimoji="0" lang="en-US" altLang="en-US" sz="2000" b="0" i="0" u="none" strike="noStrike" cap="none" normalizeH="0" baseline="0" dirty="0" err="1">
                <a:ln>
                  <a:noFill/>
                </a:ln>
                <a:solidFill>
                  <a:schemeClr val="tx1"/>
                </a:solidFill>
                <a:effectLst/>
                <a:latin typeface="Arial" panose="020B0604020202020204" pitchFamily="34" charset="0"/>
              </a:rPr>
              <a:t>TikZ</a:t>
            </a:r>
            <a:r>
              <a:rPr kumimoji="0" lang="en-US" altLang="en-US" sz="2000" b="0" i="0" u="none" strike="noStrike" cap="none" normalizeH="0" baseline="0" dirty="0">
                <a:ln>
                  <a:noFill/>
                </a:ln>
                <a:solidFill>
                  <a:schemeClr val="tx1"/>
                </a:solidFill>
                <a:effectLst/>
                <a:latin typeface="Arial" panose="020B0604020202020204" pitchFamily="34" charset="0"/>
              </a:rPr>
              <a:t> code, figure captions, LaTeX environments, and diagram explanations.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These are concise, meaningful, and sound much stronger to evaluators than generic AI features.</a:t>
            </a: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1202</TotalTime>
  <Words>719</Words>
  <Application>Microsoft Office PowerPoint</Application>
  <PresentationFormat>Widescreen</PresentationFormat>
  <Paragraphs>107</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Joshika Sri</cp:lastModifiedBy>
  <cp:revision>23</cp:revision>
  <dcterms:created xsi:type="dcterms:W3CDTF">2025-07-08T05:06:56Z</dcterms:created>
  <dcterms:modified xsi:type="dcterms:W3CDTF">2026-06-05T17:55:00Z</dcterms:modified>
</cp:coreProperties>
</file>